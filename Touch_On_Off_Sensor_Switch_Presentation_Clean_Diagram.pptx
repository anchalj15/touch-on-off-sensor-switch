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Touch ON–OFF</a:t>
            </a:r>
            <a:br/>
            <a:r>
              <a:t>Sensor 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26080"/>
            <a:ext cx="6035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DDCE8"/>
                </a:solidFill>
              </a:defRPr>
            </a:pPr>
            <a:r>
              <a:t>A simple bistable switching circuit using the NE555 timer 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160520"/>
            <a:ext cx="2286000" cy="502920"/>
          </a:xfrm>
          <a:prstGeom prst="roundRect">
            <a:avLst/>
          </a:prstGeom>
          <a:solidFill>
            <a:srgbClr val="20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ECE Mini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5074920"/>
            <a:ext cx="2286000" cy="438912"/>
          </a:xfrm>
          <a:prstGeom prst="roundRect">
            <a:avLst/>
          </a:prstGeom>
          <a:solidFill>
            <a:srgbClr val="30445E"/>
          </a:solidFill>
          <a:ln>
            <a:solidFill>
              <a:srgbClr val="20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TOUCH 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5715000"/>
            <a:ext cx="2286000" cy="438912"/>
          </a:xfrm>
          <a:prstGeom prst="roundRect">
            <a:avLst/>
          </a:prstGeom>
          <a:solidFill>
            <a:srgbClr val="30445E"/>
          </a:solidFill>
          <a:ln>
            <a:solidFill>
              <a:srgbClr val="20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TOUCH 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1234440"/>
            <a:ext cx="1280160" cy="2651760"/>
          </a:xfrm>
          <a:prstGeom prst="roundRect">
            <a:avLst/>
          </a:prstGeom>
          <a:solidFill>
            <a:srgbClr val="EBF2F7"/>
          </a:solidFill>
          <a:ln>
            <a:solidFill>
              <a:srgbClr val="20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82D48"/>
                </a:solidFill>
              </a:defRPr>
            </a:pPr>
            <a:r>
              <a:t>NE555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8"/>
                </a:solidFill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What is a touch ON–OFF sensor switch?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7472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20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58191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82D48"/>
                </a:solidFill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84248"/>
            <a:ext cx="31089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3"/>
                </a:solidFill>
              </a:defRPr>
            </a:pPr>
            <a:r>
              <a:t>Turns a load ON or OFF using a light touch instead of a mechanical switch.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47472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73152" cy="1828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58191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82D48"/>
                </a:solidFill>
              </a:defRPr>
            </a:pPr>
            <a:r>
              <a:t>Main 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984248"/>
            <a:ext cx="31089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3"/>
                </a:solidFill>
              </a:defRPr>
            </a:pPr>
            <a:r>
              <a:t>The NE555 is configured as a bistable (flip-flop-like) circuit.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47472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17320"/>
            <a:ext cx="73152" cy="1828800"/>
          </a:xfrm>
          <a:prstGeom prst="rect">
            <a:avLst/>
          </a:prstGeom>
          <a:solidFill>
            <a:srgbClr val="DC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58191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82D48"/>
                </a:solidFill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984248"/>
            <a:ext cx="31089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3"/>
                </a:solidFill>
              </a:defRPr>
            </a:pPr>
            <a:r>
              <a:t>The 555 output changes state and can control indicator LEDs or another suitable load.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94760"/>
            <a:ext cx="105156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B33"/>
                </a:solidFill>
              </a:defRPr>
            </a:pPr>
            <a:r>
              <a:t>Two touch plates act as the ON and OFF inputs.</a:t>
            </a:r>
          </a:p>
          <a:p>
            <a:pPr>
              <a:spcAft>
                <a:spcPts val="900"/>
              </a:spcAft>
              <a:defRPr sz="1800" b="0">
                <a:solidFill>
                  <a:srgbClr val="232B33"/>
                </a:solidFill>
              </a:defRPr>
            </a:pPr>
            <a:r>
              <a:t>A brief touch changes the state; the circuit remains in that state until the opposite touch is made.</a:t>
            </a:r>
          </a:p>
          <a:p>
            <a:pPr>
              <a:spcAft>
                <a:spcPts val="900"/>
              </a:spcAft>
              <a:defRPr sz="1800" b="0">
                <a:solidFill>
                  <a:srgbClr val="232B33"/>
                </a:solidFill>
              </a:defRPr>
            </a:pPr>
            <a:r>
              <a:t>This makes the circuit useful as an electronic replacement for a simple push-button switch.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0" y="65653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8"/>
                </a:solidFill>
              </a:defRPr>
            </a:pPr>
            <a:r>
              <a:t>2. Components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Typical parts used in the shown circuit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83280" cy="1600200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1600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82D48"/>
                </a:solidFill>
              </a:defRPr>
            </a:pPr>
            <a:r>
              <a:t>NE555 timer 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3"/>
                </a:solidFill>
              </a:defRPr>
            </a:pPr>
            <a:r>
              <a:t>Main bistable control element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383280" cy="1600200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417320"/>
            <a:ext cx="73152" cy="1600200"/>
          </a:xfrm>
          <a:prstGeom prst="rect">
            <a:avLst/>
          </a:prstGeom>
          <a:solidFill>
            <a:srgbClr val="20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58191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82D48"/>
                </a:solidFill>
              </a:defRPr>
            </a:pPr>
            <a:r>
              <a:t>2 touch plates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1984248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3"/>
                </a:solidFill>
              </a:defRPr>
            </a:pPr>
            <a:r>
              <a:t>ON and OFF sensing inputs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3383280" cy="1600200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417320"/>
            <a:ext cx="73152" cy="1600200"/>
          </a:xfrm>
          <a:prstGeom prst="rect">
            <a:avLst/>
          </a:prstGeom>
          <a:solidFill>
            <a:srgbClr val="DC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158191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82D48"/>
                </a:solidFill>
              </a:defRPr>
            </a:pPr>
            <a:r>
              <a:t>Resistors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1984248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3"/>
                </a:solidFill>
              </a:defRPr>
            </a:pPr>
            <a:r>
              <a:t>Provide bias/current-limiting functions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74720"/>
            <a:ext cx="3383280" cy="1600200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474720"/>
            <a:ext cx="73152" cy="1600200"/>
          </a:xfrm>
          <a:prstGeom prst="rect">
            <a:avLst/>
          </a:prstGeom>
          <a:solidFill>
            <a:srgbClr val="34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63931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82D48"/>
                </a:solidFill>
              </a:defRPr>
            </a:pPr>
            <a:r>
              <a:t>LED1 &amp; LED2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041648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3"/>
                </a:solidFill>
              </a:defRPr>
            </a:pPr>
            <a:r>
              <a:t>Indicate the output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474720"/>
            <a:ext cx="3383280" cy="1600200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3474720"/>
            <a:ext cx="73152" cy="1600200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363931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82D48"/>
                </a:solidFill>
              </a:defRPr>
            </a:pPr>
            <a:r>
              <a:t>DC supply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4041648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3"/>
                </a:solidFill>
              </a:defRPr>
            </a:pPr>
            <a:r>
              <a:t>Powers the NE555 circuit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0" y="65653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8"/>
                </a:solidFill>
              </a:defRPr>
            </a:pPr>
            <a:r>
              <a:t>3. Circuit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Reference circuit provided for the touch ON–OFF switch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417320"/>
            <a:ext cx="3246120" cy="1325880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75320" y="1417320"/>
            <a:ext cx="73152" cy="1325880"/>
          </a:xfrm>
          <a:prstGeom prst="rect">
            <a:avLst/>
          </a:prstGeom>
          <a:solidFill>
            <a:srgbClr val="34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76488" y="1581912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82D48"/>
                </a:solidFill>
              </a:defRPr>
            </a:pPr>
            <a:r>
              <a:t>Touch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6488" y="1984248"/>
            <a:ext cx="2880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3"/>
                </a:solidFill>
              </a:defRPr>
            </a:pPr>
            <a:r>
              <a:t>Touch the ON/trigger plate to make the 555 output go HIGH.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971800"/>
            <a:ext cx="3246120" cy="1325880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75320" y="2971800"/>
            <a:ext cx="73152" cy="1325880"/>
          </a:xfrm>
          <a:prstGeom prst="rect">
            <a:avLst/>
          </a:prstGeom>
          <a:solidFill>
            <a:srgbClr val="DC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3136392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82D48"/>
                </a:solidFill>
              </a:defRPr>
            </a:pPr>
            <a:r>
              <a:t>Touch 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6488" y="3538728"/>
            <a:ext cx="2880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3"/>
                </a:solidFill>
              </a:defRPr>
            </a:pPr>
            <a:r>
              <a:t>Touch the OFF/reset plate to make the output go 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4526280"/>
            <a:ext cx="3246120" cy="1325880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4526280"/>
            <a:ext cx="73152" cy="13258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4690872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82D48"/>
                </a:solidFill>
              </a:defRPr>
            </a:pPr>
            <a:r>
              <a:t>LED indication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5093208"/>
            <a:ext cx="2880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3"/>
                </a:solidFill>
              </a:defRPr>
            </a:pPr>
            <a:r>
              <a:t>Opposite LED states visually show whether the output is HIGH or 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5653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1234440"/>
            <a:ext cx="7635240" cy="5029200"/>
          </a:xfrm>
          <a:prstGeom prst="roundRect">
            <a:avLst/>
          </a:prstGeom>
          <a:solidFill>
            <a:srgbClr val="F8FAFC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143000" y="1600200"/>
            <a:ext cx="6126480" cy="0"/>
          </a:xfrm>
          <a:prstGeom prst="line">
            <a:avLst/>
          </a:prstGeom>
          <a:ln w="31750">
            <a:solidFill>
              <a:srgbClr val="208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14173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08580"/>
                </a:solidFill>
              </a:defRPr>
            </a:pPr>
            <a:r>
              <a:t>+VCC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43000" y="5715000"/>
            <a:ext cx="6126480" cy="0"/>
          </a:xfrm>
          <a:prstGeom prst="line">
            <a:avLst/>
          </a:prstGeom>
          <a:ln w="31750">
            <a:solidFill>
              <a:srgbClr val="182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55321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82D48"/>
                </a:solidFill>
              </a:defRPr>
            </a:pPr>
            <a:r>
              <a:t>GND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71800" y="2057400"/>
            <a:ext cx="2240280" cy="2880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8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3063240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82D48"/>
                </a:solidFill>
              </a:defRPr>
            </a:pPr>
            <a:r>
              <a:t>NE555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3520440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A646E"/>
                </a:solidFill>
              </a:defRPr>
            </a:pPr>
            <a:r>
              <a:t>BISTABLE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965960" y="2331720"/>
            <a:ext cx="1005840" cy="0"/>
          </a:xfrm>
          <a:prstGeom prst="line">
            <a:avLst/>
          </a:prstGeom>
          <a:ln w="22860">
            <a:solidFill>
              <a:srgbClr val="23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51560" y="2176272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32B33"/>
                </a:solidFill>
              </a:defRPr>
            </a:pPr>
            <a:r>
              <a:t>2  TRIGGER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93392" y="2441448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08580"/>
                </a:solidFill>
              </a:defRPr>
            </a:pPr>
            <a:r>
              <a:t>SET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965960" y="3063240"/>
            <a:ext cx="1005840" cy="0"/>
          </a:xfrm>
          <a:prstGeom prst="line">
            <a:avLst/>
          </a:prstGeom>
          <a:ln w="22860">
            <a:solidFill>
              <a:srgbClr val="23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51560" y="2907792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32B33"/>
                </a:solidFill>
              </a:defRPr>
            </a:pPr>
            <a:r>
              <a:t>6 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93392" y="3172968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DC842D"/>
                </a:solidFill>
              </a:defRPr>
            </a:pPr>
            <a:r>
              <a:t>RESET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965960" y="3794760"/>
            <a:ext cx="1005840" cy="0"/>
          </a:xfrm>
          <a:prstGeom prst="line">
            <a:avLst/>
          </a:prstGeom>
          <a:ln w="22860">
            <a:solidFill>
              <a:srgbClr val="23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51560" y="3639312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32B33"/>
                </a:solidFill>
              </a:defRPr>
            </a:pPr>
            <a:r>
              <a:t>7  DISCHARGE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212080" y="2423160"/>
            <a:ext cx="685800" cy="0"/>
          </a:xfrm>
          <a:prstGeom prst="line">
            <a:avLst/>
          </a:prstGeom>
          <a:ln w="22860">
            <a:solidFill>
              <a:srgbClr val="23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925312" y="2267712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32B33"/>
                </a:solidFill>
              </a:defRPr>
            </a:pPr>
            <a:r>
              <a:t>8  VCC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12080" y="3154680"/>
            <a:ext cx="685800" cy="0"/>
          </a:xfrm>
          <a:prstGeom prst="line">
            <a:avLst/>
          </a:prstGeom>
          <a:ln w="22860">
            <a:solidFill>
              <a:srgbClr val="23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925312" y="2999232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32B33"/>
                </a:solidFill>
              </a:defRPr>
            </a:pPr>
            <a:r>
              <a:t>4  RESET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212080" y="3886200"/>
            <a:ext cx="685800" cy="0"/>
          </a:xfrm>
          <a:prstGeom prst="line">
            <a:avLst/>
          </a:prstGeom>
          <a:ln w="22860">
            <a:solidFill>
              <a:srgbClr val="23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925312" y="3730752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32B33"/>
                </a:solidFill>
              </a:defRPr>
            </a:pPr>
            <a:r>
              <a:t>3  OUTPUT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096512" y="4937760"/>
            <a:ext cx="0" cy="777240"/>
          </a:xfrm>
          <a:prstGeom prst="line">
            <a:avLst/>
          </a:prstGeom>
          <a:ln w="25400">
            <a:solidFill>
              <a:srgbClr val="182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639312" y="501091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82D48"/>
                </a:solidFill>
              </a:defRPr>
            </a:pPr>
            <a:r>
              <a:t>1  GND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49240" y="4681728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696E"/>
                </a:solidFill>
              </a:defRPr>
            </a:pPr>
            <a:r>
              <a:t>5  CONTROL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212080" y="4828032"/>
            <a:ext cx="685800" cy="0"/>
          </a:xfrm>
          <a:prstGeom prst="line">
            <a:avLst/>
          </a:prstGeom>
          <a:ln w="15240">
            <a:solidFill>
              <a:srgbClr val="A0A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925312" y="46817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787D82"/>
                </a:solidFill>
              </a:defRPr>
            </a:pPr>
            <a:r>
              <a:t>NC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5897880" y="1600200"/>
            <a:ext cx="0" cy="822960"/>
          </a:xfrm>
          <a:prstGeom prst="line">
            <a:avLst/>
          </a:prstGeom>
          <a:ln w="25400">
            <a:solidFill>
              <a:srgbClr val="208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5897880" y="1600200"/>
            <a:ext cx="0" cy="1554480"/>
          </a:xfrm>
          <a:prstGeom prst="line">
            <a:avLst/>
          </a:prstGeom>
          <a:ln w="25400">
            <a:solidFill>
              <a:srgbClr val="208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212080" y="2423160"/>
            <a:ext cx="685800" cy="0"/>
          </a:xfrm>
          <a:prstGeom prst="line">
            <a:avLst/>
          </a:prstGeom>
          <a:ln w="25400">
            <a:solidFill>
              <a:srgbClr val="208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5212080" y="3154680"/>
            <a:ext cx="685800" cy="0"/>
          </a:xfrm>
          <a:prstGeom prst="line">
            <a:avLst/>
          </a:prstGeom>
          <a:ln w="25400">
            <a:solidFill>
              <a:srgbClr val="208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49808" y="1965960"/>
            <a:ext cx="1143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48C56"/>
                </a:solidFill>
              </a:defRPr>
            </a:pPr>
            <a:r>
              <a:t>TOUCH 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417320" y="2267712"/>
            <a:ext cx="329184" cy="777240"/>
          </a:xfrm>
          <a:prstGeom prst="rect">
            <a:avLst/>
          </a:prstGeom>
          <a:solidFill>
            <a:srgbClr val="FFFFFF"/>
          </a:solidFill>
          <a:ln>
            <a:solidFill>
              <a:srgbClr val="348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61872" y="3081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348C56"/>
                </a:solidFill>
              </a:defRPr>
            </a:pPr>
            <a:r>
              <a:t>10kΩ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581912" y="1600200"/>
            <a:ext cx="0" cy="667512"/>
          </a:xfrm>
          <a:prstGeom prst="line">
            <a:avLst/>
          </a:prstGeom>
          <a:ln w="22860">
            <a:solidFill>
              <a:srgbClr val="208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581912" y="3044952"/>
            <a:ext cx="0" cy="201168"/>
          </a:xfrm>
          <a:prstGeom prst="line">
            <a:avLst/>
          </a:prstGeom>
          <a:ln w="22860">
            <a:solidFill>
              <a:srgbClr val="23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1078992" y="3246120"/>
            <a:ext cx="1005840" cy="347472"/>
          </a:xfrm>
          <a:prstGeom prst="roundRect">
            <a:avLst/>
          </a:prstGeom>
          <a:solidFill>
            <a:srgbClr val="E8F6F1"/>
          </a:solidFill>
          <a:ln>
            <a:solidFill>
              <a:srgbClr val="348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24712" y="328269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348C56"/>
                </a:solidFill>
              </a:defRPr>
            </a:pPr>
            <a:r>
              <a:t>TOUCH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581912" y="3593592"/>
            <a:ext cx="0" cy="566928"/>
          </a:xfrm>
          <a:prstGeom prst="line">
            <a:avLst/>
          </a:prstGeom>
          <a:ln w="22860">
            <a:solidFill>
              <a:srgbClr val="23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81912" y="4160520"/>
            <a:ext cx="0" cy="1554480"/>
          </a:xfrm>
          <a:prstGeom prst="line">
            <a:avLst/>
          </a:prstGeom>
          <a:ln w="22860">
            <a:solidFill>
              <a:srgbClr val="182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581912" y="3063240"/>
            <a:ext cx="384048" cy="182880"/>
          </a:xfrm>
          <a:prstGeom prst="line">
            <a:avLst/>
          </a:prstGeom>
          <a:ln w="22860">
            <a:solidFill>
              <a:srgbClr val="23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58368" y="4133087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C842D"/>
                </a:solidFill>
              </a:defRPr>
            </a:pPr>
            <a:r>
              <a:t>TOUCH OFF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417320" y="4407408"/>
            <a:ext cx="329184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8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61872" y="518464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DC842D"/>
                </a:solidFill>
              </a:defRPr>
            </a:pPr>
            <a:r>
              <a:t>10kΩ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581912" y="4160520"/>
            <a:ext cx="0" cy="246888"/>
          </a:xfrm>
          <a:prstGeom prst="line">
            <a:avLst/>
          </a:prstGeom>
          <a:ln w="22860">
            <a:solidFill>
              <a:srgbClr val="23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581912" y="5184648"/>
            <a:ext cx="0" cy="530352"/>
          </a:xfrm>
          <a:prstGeom prst="line">
            <a:avLst/>
          </a:prstGeom>
          <a:ln w="22860">
            <a:solidFill>
              <a:srgbClr val="182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777240" y="3749039"/>
            <a:ext cx="914400" cy="347472"/>
          </a:xfrm>
          <a:prstGeom prst="roundRect">
            <a:avLst/>
          </a:prstGeom>
          <a:solidFill>
            <a:srgbClr val="FFF4E8"/>
          </a:solidFill>
          <a:ln>
            <a:solidFill>
              <a:srgbClr val="DC8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2960" y="3785615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DC842D"/>
                </a:solidFill>
              </a:defRPr>
            </a:pPr>
            <a:r>
              <a:t>TOUCH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234440" y="4096512"/>
            <a:ext cx="0" cy="64008"/>
          </a:xfrm>
          <a:prstGeom prst="line">
            <a:avLst/>
          </a:prstGeom>
          <a:ln w="22860">
            <a:solidFill>
              <a:srgbClr val="23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234440" y="3794760"/>
            <a:ext cx="731520" cy="365760"/>
          </a:xfrm>
          <a:prstGeom prst="line">
            <a:avLst/>
          </a:prstGeom>
          <a:ln w="22860">
            <a:solidFill>
              <a:srgbClr val="23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234440" y="1600200"/>
            <a:ext cx="0" cy="2148839"/>
          </a:xfrm>
          <a:prstGeom prst="line">
            <a:avLst/>
          </a:prstGeom>
          <a:ln w="22860">
            <a:solidFill>
              <a:srgbClr val="208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016752" y="3456432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B6CB0"/>
                </a:solidFill>
              </a:defRPr>
            </a:pPr>
            <a:r>
              <a:t>OUTPUT INDICATION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897880" y="3886200"/>
            <a:ext cx="640080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6537960" y="3657600"/>
            <a:ext cx="438912" cy="438912"/>
          </a:xfrm>
          <a:prstGeom prst="ellipse">
            <a:avLst/>
          </a:prstGeom>
          <a:solidFill>
            <a:srgbClr val="F55A5A"/>
          </a:solidFill>
          <a:ln>
            <a:solidFill>
              <a:srgbClr val="CD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19088" y="4142232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CD4141"/>
                </a:solidFill>
              </a:defRPr>
            </a:pPr>
            <a:r>
              <a:t>LED 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086600" y="3721608"/>
            <a:ext cx="384048" cy="310896"/>
          </a:xfrm>
          <a:prstGeom prst="rect">
            <a:avLst/>
          </a:prstGeom>
          <a:solidFill>
            <a:srgbClr val="FFFF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6976872" y="3886200"/>
            <a:ext cx="109728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70648" y="3886200"/>
            <a:ext cx="0" cy="1828800"/>
          </a:xfrm>
          <a:prstGeom prst="line">
            <a:avLst/>
          </a:prstGeom>
          <a:ln w="25400">
            <a:solidFill>
              <a:srgbClr val="182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7013448" y="409651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B6CB0"/>
                </a:solidFill>
              </a:defRPr>
            </a:pPr>
            <a:r>
              <a:t>330Ω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897880" y="2423160"/>
            <a:ext cx="502920" cy="0"/>
          </a:xfrm>
          <a:prstGeom prst="line">
            <a:avLst/>
          </a:prstGeom>
          <a:ln w="25400">
            <a:solidFill>
              <a:srgbClr val="208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6400800" y="2267712"/>
            <a:ext cx="384048" cy="310896"/>
          </a:xfrm>
          <a:prstGeom prst="rect">
            <a:avLst/>
          </a:prstGeom>
          <a:solidFill>
            <a:srgbClr val="FFFFFF"/>
          </a:solidFill>
          <a:ln>
            <a:solidFill>
              <a:srgbClr val="20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6784848" y="2423160"/>
            <a:ext cx="274320" cy="0"/>
          </a:xfrm>
          <a:prstGeom prst="line">
            <a:avLst/>
          </a:prstGeom>
          <a:ln w="25400">
            <a:solidFill>
              <a:srgbClr val="208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7059168" y="2194560"/>
            <a:ext cx="438912" cy="438912"/>
          </a:xfrm>
          <a:prstGeom prst="ellipse">
            <a:avLst/>
          </a:prstGeom>
          <a:solidFill>
            <a:srgbClr val="64BE78"/>
          </a:solidFill>
          <a:ln>
            <a:solidFill>
              <a:srgbClr val="348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7498079" y="1600200"/>
            <a:ext cx="0" cy="822960"/>
          </a:xfrm>
          <a:prstGeom prst="line">
            <a:avLst/>
          </a:prstGeom>
          <a:ln w="25400">
            <a:solidFill>
              <a:srgbClr val="208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6327648" y="2642616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08580"/>
                </a:solidFill>
              </a:defRPr>
            </a:pPr>
            <a:r>
              <a:t>330Ω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03720" y="265176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348C56"/>
                </a:solidFill>
              </a:defRPr>
            </a:pPr>
            <a:r>
              <a:t>LED OFF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8680" y="1755648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64696E"/>
                </a:solidFill>
              </a:defRPr>
            </a:pPr>
            <a:r>
              <a:t>Pin 7 discharge path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331720" y="5212080"/>
            <a:ext cx="3337560" cy="411480"/>
          </a:xfrm>
          <a:prstGeom prst="roundRect">
            <a:avLst/>
          </a:prstGeom>
          <a:solidFill>
            <a:srgbClr val="EEF5F8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82D48"/>
                </a:solidFill>
              </a:defRPr>
            </a:pPr>
            <a:r>
              <a:t>Touch ON → SET → OUT HIGH     |     Touch OFF → RESET → OUT 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8"/>
                </a:solidFill>
              </a:defRPr>
            </a:pPr>
            <a:r>
              <a:t>4. Working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NE555 bistable operation in simple steps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234440"/>
            <a:ext cx="502920" cy="502920"/>
          </a:xfrm>
          <a:prstGeom prst="ellipse">
            <a:avLst/>
          </a:prstGeom>
          <a:solidFill>
            <a:srgbClr val="20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216152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D48"/>
                </a:solidFill>
              </a:defRPr>
            </a:pPr>
            <a:r>
              <a:t>Initial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1197864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B33"/>
                </a:solidFill>
              </a:defRPr>
            </a:pPr>
            <a:r>
              <a:t>The circuit powers up in one of its two stable output states.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20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76272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D48"/>
                </a:solidFill>
              </a:defRPr>
            </a:pPr>
            <a:r>
              <a:t>Touch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157984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B33"/>
                </a:solidFill>
              </a:defRPr>
            </a:pPr>
            <a:r>
              <a:t>A touch changes the trigger-side voltage so the 555 sets its output HIGH.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54680"/>
            <a:ext cx="502920" cy="502920"/>
          </a:xfrm>
          <a:prstGeom prst="ellipse">
            <a:avLst/>
          </a:prstGeom>
          <a:solidFill>
            <a:srgbClr val="20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136392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D48"/>
                </a:solidFill>
              </a:defRPr>
            </a:pPr>
            <a:r>
              <a:t>State held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118104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B33"/>
                </a:solidFill>
              </a:defRPr>
            </a:pPr>
            <a:r>
              <a:t>After the touch is removed, the output stays HIGH because the 555 is bistable.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14800"/>
            <a:ext cx="502920" cy="502920"/>
          </a:xfrm>
          <a:prstGeom prst="ellipse">
            <a:avLst/>
          </a:prstGeom>
          <a:solidFill>
            <a:srgbClr val="20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96512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D48"/>
                </a:solidFill>
              </a:defRPr>
            </a:pPr>
            <a:r>
              <a:t>Touch 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4078224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B33"/>
                </a:solidFill>
              </a:defRPr>
            </a:pPr>
            <a:r>
              <a:t>The reset/threshold-side input is activated, causing the output to go LOW.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074920"/>
            <a:ext cx="502920" cy="502920"/>
          </a:xfrm>
          <a:prstGeom prst="ellipse">
            <a:avLst/>
          </a:prstGeom>
          <a:solidFill>
            <a:srgbClr val="20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056632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D48"/>
                </a:solidFill>
              </a:defRPr>
            </a:pPr>
            <a:r>
              <a:t>State held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5038344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B33"/>
                </a:solidFill>
              </a:defRPr>
            </a:pPr>
            <a:r>
              <a:t>The output remains LOW until the ON touch is made again.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5486400"/>
            <a:ext cx="3291840" cy="658368"/>
          </a:xfrm>
          <a:prstGeom prst="roundRect">
            <a:avLst/>
          </a:prstGeom>
          <a:solidFill>
            <a:srgbClr val="F1F6FA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82D48"/>
                </a:solidFill>
              </a:defRPr>
            </a:pPr>
            <a:r>
              <a:t>555 thresholds: ≈ 1/3 VCC and ≈ 2/3 VCC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0" y="65653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8"/>
                </a:solidFill>
              </a:defRPr>
            </a:pPr>
            <a:r>
              <a:t>5. ON and OFF 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How the LEDs respond to the 555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66360" cy="4206240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4206240"/>
          </a:xfrm>
          <a:prstGeom prst="rect">
            <a:avLst/>
          </a:prstGeom>
          <a:solidFill>
            <a:srgbClr val="348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36192"/>
            <a:ext cx="4800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82D48"/>
                </a:solidFill>
              </a:defRPr>
            </a:pPr>
            <a:r>
              <a:t>ON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38528"/>
            <a:ext cx="4800600" cy="3520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3"/>
                </a:solidFill>
              </a:defRPr>
            </a:pPr>
            <a:r>
              <a:t>• Touch the ON sensor.</a:t>
            </a:r>
            <a:br/>
            <a:br/>
            <a:r>
              <a:t>• The 555 output (pin 3) becomes HIGH.</a:t>
            </a:r>
            <a:br/>
            <a:br/>
            <a:r>
              <a:t>• The ON indicator LED lights.</a:t>
            </a:r>
            <a:br/>
            <a:br/>
            <a:r>
              <a:t>• Removing your finger does not immediately change the state; the bistable circuit holds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5166360" cy="4206240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73152" cy="4206240"/>
          </a:xfrm>
          <a:prstGeom prst="rect">
            <a:avLst/>
          </a:prstGeom>
          <a:solidFill>
            <a:srgbClr val="DC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536192"/>
            <a:ext cx="4800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82D48"/>
                </a:solidFill>
              </a:defRPr>
            </a:pPr>
            <a:r>
              <a:t>OFF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1938528"/>
            <a:ext cx="4800600" cy="3520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3"/>
                </a:solidFill>
              </a:defRPr>
            </a:pPr>
            <a:r>
              <a:t>• Touch the OFF sensor.</a:t>
            </a:r>
            <a:br/>
            <a:br/>
            <a:r>
              <a:t>• The 555 output (pin 3) becomes LOW.</a:t>
            </a:r>
            <a:br/>
            <a:br/>
            <a:r>
              <a:t>• The opposite indicator LED shows the OFF state.</a:t>
            </a:r>
            <a:br/>
            <a:br/>
            <a:r>
              <a:t>• The circuit remains LOW until the ON sensor is touched again.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0" y="65653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8"/>
                </a:solidFill>
              </a:defRPr>
            </a:pPr>
            <a:r>
              <a:t>6. Advantages and Applications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212080" cy="4480560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73152" cy="4480560"/>
          </a:xfrm>
          <a:prstGeom prst="rect">
            <a:avLst/>
          </a:prstGeom>
          <a:solidFill>
            <a:srgbClr val="20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490472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82D48"/>
                </a:solidFill>
              </a:defRPr>
            </a:pPr>
            <a:r>
              <a:t>Advantages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892807"/>
            <a:ext cx="4846320" cy="3794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3"/>
                </a:solidFill>
              </a:defRPr>
            </a:pPr>
            <a:r>
              <a:t>• No moving mechanical switch</a:t>
            </a:r>
            <a:br/>
            <a:r>
              <a:t>• Simple and low-cost circuit</a:t>
            </a:r>
            <a:br/>
            <a:r>
              <a:t>• Easy ON/OFF control by touch</a:t>
            </a:r>
            <a:br/>
            <a:r>
              <a:t>• Output state is latched</a:t>
            </a:r>
            <a:br/>
            <a:r>
              <a:t>• Useful for learning timer IC applications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212080" cy="4480560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325880"/>
            <a:ext cx="73152" cy="44805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1490472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82D48"/>
                </a:solidFill>
              </a:defRPr>
            </a:pPr>
            <a:r>
              <a:t>Possible 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1892807"/>
            <a:ext cx="4846320" cy="3794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B33"/>
                </a:solidFill>
              </a:defRPr>
            </a:pPr>
            <a:r>
              <a:t>• Touch-controlled lamps</a:t>
            </a:r>
            <a:br/>
            <a:r>
              <a:t>• Small indicator/control panels</a:t>
            </a:r>
            <a:br/>
            <a:r>
              <a:t>• Electronic project demonstrations</a:t>
            </a:r>
            <a:br/>
            <a:r>
              <a:t>• Educational NE555 experiments</a:t>
            </a:r>
            <a:br/>
            <a:r>
              <a:t>• User-interface prototypes</a:t>
            </a:r>
            <a:br/>
            <a:br/>
            <a:r>
              <a:t>For larger loads, use an appropriate transistor, MOSFET or relay driver stage.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5653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7.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74519"/>
            <a:ext cx="9966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EBF2F7"/>
                </a:solidFill>
              </a:defRPr>
            </a:pPr>
            <a:r>
              <a:t>The touch sensor uses the NE555 as a bistable switching element.</a:t>
            </a:r>
          </a:p>
          <a:p>
            <a:pPr>
              <a:spcAft>
                <a:spcPts val="900"/>
              </a:spcAft>
              <a:defRPr sz="2000" b="0">
                <a:solidFill>
                  <a:srgbClr val="EBF2F7"/>
                </a:solidFill>
              </a:defRPr>
            </a:pPr>
            <a:r>
              <a:t>Two touch inputs provide separate ON and OFF control.</a:t>
            </a:r>
          </a:p>
          <a:p>
            <a:pPr>
              <a:spcAft>
                <a:spcPts val="900"/>
              </a:spcAft>
              <a:defRPr sz="2000" b="0">
                <a:solidFill>
                  <a:srgbClr val="EBF2F7"/>
                </a:solidFill>
              </a:defRPr>
            </a:pPr>
            <a:r>
              <a:t>The output remains in its selected state after the finger is removed.</a:t>
            </a:r>
          </a:p>
          <a:p>
            <a:pPr>
              <a:spcAft>
                <a:spcPts val="900"/>
              </a:spcAft>
              <a:defRPr sz="2000" b="0">
                <a:solidFill>
                  <a:srgbClr val="EBF2F7"/>
                </a:solidFill>
              </a:defRPr>
            </a:pPr>
            <a:r>
              <a:t>LEDs provide a simple visual indication of the output state.</a:t>
            </a:r>
          </a:p>
          <a:p>
            <a:pPr>
              <a:spcAft>
                <a:spcPts val="900"/>
              </a:spcAft>
              <a:defRPr sz="2000" b="0">
                <a:solidFill>
                  <a:srgbClr val="EBF2F7"/>
                </a:solidFill>
              </a:defRPr>
            </a:pPr>
            <a:r>
              <a:t>The project demonstrates practical concepts of touch sensing, thresholds and digital switching.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440680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08580"/>
                </a:solidFill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653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